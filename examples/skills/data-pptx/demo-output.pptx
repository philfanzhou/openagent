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spPr>
            <a:solidFill>
              <a:srgbClr val="3278BD"/>
            </a:solidFill>
          </c:spPr>
          <c:cat>
            <c:strRef>
              <c:f>Sheet1!$A$2:$A$4</c:f>
              <c:strCache>
                <c:ptCount val="3"/>
                <c:pt idx="0">
                  <c:v>4 月</c:v>
                </c:pt>
                <c:pt idx="1">
                  <c:v>5 月</c:v>
                </c:pt>
                <c:pt idx="2">
                  <c:v>6 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390</c:v>
                </c:pt>
                <c:pt idx="1">
                  <c:v>450</c:v>
                </c:pt>
                <c:pt idx="2">
                  <c:v>520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成本</c:v>
                </c:pt>
              </c:strCache>
            </c:strRef>
          </c:tx>
          <c:spPr>
            <a:solidFill>
              <a:srgbClr val="E7A23B"/>
            </a:solidFill>
          </c:spPr>
          <c:cat>
            <c:strRef>
              <c:f>Sheet1!$A$2:$A$4</c:f>
              <c:strCache>
                <c:ptCount val="3"/>
                <c:pt idx="0">
                  <c:v>4 月</c:v>
                </c:pt>
                <c:pt idx="1">
                  <c:v>5 月</c:v>
                </c:pt>
                <c:pt idx="2">
                  <c:v>6 月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250</c:v>
                </c:pt>
                <c:pt idx="1">
                  <c:v>278</c:v>
                </c:pt>
                <c:pt idx="2">
                  <c:v>301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新增客户</c:v>
                </c:pt>
              </c:strCache>
            </c:strRef>
          </c:tx>
          <c:spPr>
            <a:ln w="38100">
              <a:solidFill>
                <a:srgbClr val="54A582"/>
              </a:solidFill>
            </a:ln>
          </c:spPr>
          <c:cat>
            <c:strRef>
              <c:f>Sheet1!$A$2:$A$4</c:f>
              <c:strCache>
                <c:ptCount val="3"/>
                <c:pt idx="0">
                  <c:v>4 月</c:v>
                </c:pt>
                <c:pt idx="1">
                  <c:v>5 月</c:v>
                </c:pt>
                <c:pt idx="2">
                  <c:v>6 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</c:v>
                </c:pt>
                <c:pt idx="1">
                  <c:v>111</c:v>
                </c:pt>
                <c:pt idx="2">
                  <c:v>139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收入占比</c:v>
                </c:pt>
              </c:strCache>
            </c:strRef>
          </c:tx>
          <c:dPt>
            <c:idx val="0"/>
            <c:spPr>
              <a:solidFill>
                <a:srgbClr val="3278BD"/>
              </a:solidFill>
            </c:spPr>
          </c:dPt>
          <c:dPt>
            <c:idx val="1"/>
            <c:spPr>
              <a:solidFill>
                <a:srgbClr val="E7A23B"/>
              </a:solidFill>
            </c:spPr>
          </c:dPt>
          <c:dPt>
            <c:idx val="2"/>
            <c:spPr>
              <a:solidFill>
                <a:srgbClr val="54A582"/>
              </a:solidFill>
            </c:spPr>
          </c:dPt>
          <c:cat>
            <c:strRef>
              <c:f>Sheet1!$A$2:$A$4</c:f>
              <c:strCache>
                <c:ptCount val="3"/>
                <c:pt idx="0">
                  <c:v>订阅</c:v>
                </c:pt>
                <c:pt idx="1">
                  <c:v>项目</c:v>
                </c:pt>
                <c:pt idx="2">
                  <c:v>服务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5840" y="2103120"/>
            <a:ext cx="10149840" cy="10058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5840" y="3383280"/>
            <a:ext cx="10149840" cy="640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年第二季度经营报告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演示数据 · 可编辑图表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60" y="514350"/>
            <a:ext cx="1060677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5B87"/>
                </a:solidFill>
                <a:latin typeface="Noto Sans CJK SC"/>
              </a:defRPr>
            </a:pPr>
            <a:r>
              <a:t>核心结论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792460" y="1577340"/>
            <a:ext cx="1828754" cy="54864"/>
          </a:xfrm>
          <a:prstGeom prst="rect">
            <a:avLst/>
          </a:prstGeom>
          <a:solidFill>
            <a:srgbClr val="215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52" y="2194560"/>
            <a:ext cx="999718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Noto Sans CJK SC"/>
              </a:defRPr>
            </a:pPr>
            <a:r>
              <a:t>• 营收逐月增长，第二季度累计 1,360 万元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52" y="2708910"/>
            <a:ext cx="999718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Noto Sans CJK SC"/>
              </a:defRPr>
            </a:pPr>
            <a:r>
              <a:t>• 新客户占比持续提升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52" y="3223260"/>
            <a:ext cx="999718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Noto Sans CJK SC"/>
              </a:defRPr>
            </a:pPr>
            <a:r>
              <a:t>• 产品组合向订阅服务倾斜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853418" y="1920240"/>
          <a:ext cx="10484857" cy="40462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92460" y="514350"/>
            <a:ext cx="1060677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5B87"/>
                </a:solidFill>
                <a:latin typeface="Noto Sans CJK SC"/>
              </a:defRPr>
            </a:pPr>
            <a:r>
              <a:t>月度营收及成本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460" y="1577340"/>
            <a:ext cx="1828754" cy="54864"/>
          </a:xfrm>
          <a:prstGeom prst="rect">
            <a:avLst/>
          </a:prstGeom>
          <a:solidFill>
            <a:srgbClr val="215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18" y="6172200"/>
            <a:ext cx="10484857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  <a:latin typeface="Noto Sans CJK SC"/>
              </a:defRPr>
            </a:pPr>
            <a:r>
              <a:t>单位：万元；数据仅用于功能演示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853418" y="1920240"/>
          <a:ext cx="10484857" cy="40462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92460" y="514350"/>
            <a:ext cx="1060677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5B87"/>
                </a:solidFill>
                <a:latin typeface="Noto Sans CJK SC"/>
              </a:defRPr>
            </a:pPr>
            <a:r>
              <a:t>新增客户趋势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460" y="1577340"/>
            <a:ext cx="1828754" cy="54864"/>
          </a:xfrm>
          <a:prstGeom prst="rect">
            <a:avLst/>
          </a:prstGeom>
          <a:solidFill>
            <a:srgbClr val="215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18" y="6172200"/>
            <a:ext cx="10484857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  <a:latin typeface="Noto Sans CJK SC"/>
              </a:defRPr>
            </a:pPr>
            <a:r>
              <a:t>单位：户；折线及颜色均可调整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853418" y="1920240"/>
          <a:ext cx="10484857" cy="40462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92460" y="514350"/>
            <a:ext cx="1060677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5B87"/>
                </a:solidFill>
                <a:latin typeface="Noto Sans CJK SC"/>
              </a:defRPr>
            </a:pPr>
            <a:r>
              <a:t>收入结构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460" y="1577340"/>
            <a:ext cx="1828754" cy="54864"/>
          </a:xfrm>
          <a:prstGeom prst="rect">
            <a:avLst/>
          </a:prstGeom>
          <a:solidFill>
            <a:srgbClr val="215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18" y="6172200"/>
            <a:ext cx="10484857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  <a:latin typeface="Noto Sans CJK SC"/>
              </a:defRPr>
            </a:pPr>
            <a:r>
              <a:t>扇区使用 theme.palette 配色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